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65" r:id="rId5"/>
    <p:sldId id="269" r:id="rId6"/>
    <p:sldId id="259" r:id="rId7"/>
    <p:sldId id="271" r:id="rId8"/>
    <p:sldId id="260" r:id="rId9"/>
    <p:sldId id="273" r:id="rId10"/>
    <p:sldId id="274" r:id="rId11"/>
    <p:sldId id="275" r:id="rId12"/>
    <p:sldId id="272" r:id="rId13"/>
    <p:sldId id="276" r:id="rId14"/>
    <p:sldId id="261" r:id="rId15"/>
    <p:sldId id="262" r:id="rId16"/>
    <p:sldId id="263" r:id="rId17"/>
    <p:sldId id="264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Urbanist" panose="020B0604020202020204" charset="0"/>
      <p:regular r:id="rId31"/>
      <p:bold r:id="rId32"/>
      <p:italic r:id="rId33"/>
      <p:boldItalic r:id="rId34"/>
    </p:embeddedFont>
    <p:embeddedFont>
      <p:font typeface="Urbanist ExtraBold" panose="020B0604020202020204" charset="0"/>
      <p:bold r:id="rId35"/>
      <p:boldItalic r:id="rId36"/>
    </p:embeddedFont>
    <p:embeddedFont>
      <p:font typeface="Urbanist Medium" panose="020B0604020202020204" charset="0"/>
      <p:regular r:id="rId37"/>
      <p:bold r:id="rId38"/>
      <p:italic r:id="rId39"/>
      <p:boldItalic r:id="rId40"/>
    </p:embeddedFont>
    <p:embeddedFont>
      <p:font typeface="Urbanist SemiBold" panose="020B060402020202020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C84C65-F8B6-40F8-A90A-5B0E280E7166}">
  <a:tblStyle styleId="{71C84C65-F8B6-40F8-A90A-5B0E280E71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font" Target="fonts/font2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viewProps" Target="viewProps.xml"/><Relationship Id="rId20" Type="http://schemas.openxmlformats.org/officeDocument/2006/relationships/font" Target="fonts/font1.fntdata"/><Relationship Id="rId41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9348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1698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589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25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387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556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92602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6658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34667" y="4160639"/>
            <a:ext cx="5122664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396897" y="2640640"/>
            <a:ext cx="538551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4ADE80"/>
                </a:solidFill>
                <a:latin typeface="Times New Roman" panose="02020603050405020304" pitchFamily="18" charset="0"/>
                <a:ea typeface="Urbanist ExtraBold"/>
                <a:cs typeface="Times New Roman" panose="02020603050405020304" pitchFamily="18" charset="0"/>
                <a:sym typeface="Urbanist ExtraBold"/>
              </a:rPr>
              <a:t>PHÂN TÍCH &amp; DỰ ĐOÁN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748347" y="3427214"/>
            <a:ext cx="4682616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Urbanist"/>
                <a:cs typeface="Times New Roman" panose="02020603050405020304" pitchFamily="18" charset="0"/>
                <a:sym typeface="Urbanist"/>
              </a:rPr>
              <a:t>NGUY CƠ MẮC BỆNH TIM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925192" y="4379714"/>
            <a:ext cx="193268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Họ tên: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Nguyễn Giang Long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334125" y="4379714"/>
            <a:ext cx="193268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Môn học: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Khoa học dữ liệu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925192" y="4674989"/>
            <a:ext cx="193268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Lớp</a:t>
            </a:r>
            <a:r>
              <a:rPr lang="en-US" sz="1200" b="0" i="0" u="none" strike="noStrike" cap="none" dirty="0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58KTP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6334125" y="4674989"/>
            <a:ext cx="193268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GVHD:</a:t>
            </a:r>
            <a:r>
              <a:rPr lang="en-US" sz="1200" b="0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TS. Nguyễn Văn Huy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925192" y="4970264"/>
            <a:ext cx="434161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ADE80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MSSV: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225480106043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FB09408-5704-4576-B89B-65543F5CC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424" y="484137"/>
            <a:ext cx="1905000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66975"/>
            <a:ext cx="5859809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26584" y="2466975"/>
            <a:ext cx="488439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74234" y="4274939"/>
            <a:ext cx="4389090" cy="62091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114425" y="2714625"/>
            <a:ext cx="533269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PHẦN I: PHÂN TÍCH DỮ LIỆU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828675" y="3038475"/>
            <a:ext cx="5364509" cy="952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240934" y="2714625"/>
            <a:ext cx="432850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PHẦN II: DỰ ĐOÁN &amp; PHÂN CỤM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974234" y="3038475"/>
            <a:ext cx="4389090" cy="9525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2743200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1066800" y="3238500"/>
            <a:ext cx="51263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Những đặc trưng nào có ảnh hưởng mạnh nhất đến nguy cơ mắc bệnh tim?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66800" y="3552825"/>
            <a:ext cx="5126384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Các biến liên tục có sự khác biệt như thế nào giữa nhóm mắc bệnh và không mắc bệnh?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66800" y="4067175"/>
            <a:ext cx="51263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Các biến phân loại có liên quan như thế nào đến nguy cơ mắc bệnh tim?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66800" y="4381500"/>
            <a:ext cx="51263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Bộ dữ liệu có cân bằng giữa hai lớp hay không?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66800" y="4695825"/>
            <a:ext cx="512638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Các thuộc tính nào đóng vai trò quan trọng nhất đối với bài toán dự đoán?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74234" y="274320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7212359" y="3238500"/>
            <a:ext cx="415096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Thuật toán nào mang lại hiệu quả dự đoán/phân loại tốt nhất trên tập mẫu thử?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212359" y="3790950"/>
            <a:ext cx="415096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E2E8F0"/>
                </a:solidFill>
                <a:latin typeface="Urbanist"/>
                <a:ea typeface="Urbanist"/>
                <a:cs typeface="Urbanist"/>
                <a:sym typeface="Urbanist"/>
              </a:rPr>
              <a:t>Có thể xây dựng mô hình dự đoán và cụm hóa nguy cơ mắc bệnh tim trực tiếp từ chỉ số sức khỏe của bệnh nhân?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126634" y="4398764"/>
            <a:ext cx="408429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Kết hợp mô hình hóa dữ liệu giúp phân đoạn rủi ro sức khỏe, khoanh vùng nhóm lâm sàng nguy cơ cao tự động.</a:t>
            </a:r>
            <a:endParaRPr/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26634" y="4417814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675" y="326231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675" y="357663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675" y="409098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675" y="440531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28675" y="4719637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74234" y="3262312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974234" y="3814762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723900" y="485775"/>
            <a:ext cx="4443524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CÂU HỎI NGHIÊN CỨU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581025" y="485775"/>
            <a:ext cx="47625" cy="419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90812"/>
            <a:ext cx="35242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690812"/>
            <a:ext cx="35242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2690812"/>
            <a:ext cx="35242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85987" y="2986087"/>
            <a:ext cx="3143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802957" y="3490912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Quy Mô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76300" y="3938587"/>
            <a:ext cx="29337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1,025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bản ghi dữ liệu bệnh nhân lâm sàng thực tế.</a:t>
            </a:r>
            <a:endParaRPr/>
          </a:p>
        </p:txBody>
      </p:sp>
      <p:pic>
        <p:nvPicPr>
          <p:cNvPr id="138" name="Google Shape;13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15025" y="2986087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4555807" y="3490912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Đặc Trưng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629150" y="3938587"/>
            <a:ext cx="29337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14 thuộc tính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bao gồm tuổi, giới tính, huyết áp, cholesterol...</a:t>
            </a:r>
            <a:endParaRPr/>
          </a:p>
        </p:txBody>
      </p:sp>
      <p:pic>
        <p:nvPicPr>
          <p:cNvPr id="141" name="Google Shape;14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0250" y="2986087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8308657" y="3490912"/>
            <a:ext cx="30803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Trạng Thái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382000" y="3938587"/>
            <a:ext cx="29337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Dữ liệu </a:t>
            </a: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Cân bằng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loại bỏ nguy cơ lệch mẫu (bias) khi huấn luyện.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723900" y="485775"/>
            <a:ext cx="501156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TỔNG QUAN BỘ DỮ LIỆU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581025" y="485775"/>
            <a:ext cx="47625" cy="419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/>
        </p:nvSpPr>
        <p:spPr>
          <a:xfrm>
            <a:off x="723900" y="485775"/>
            <a:ext cx="501156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TỔNG QUAN BỘ DỮ LIỆU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581025" y="485775"/>
            <a:ext cx="47625" cy="419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5DBFD5-9D3E-426E-ADFD-022ED4C84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124" y="1487987"/>
            <a:ext cx="5661289" cy="396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470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0" y="2981325"/>
            <a:ext cx="53340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356371"/>
            <a:ext cx="5334000" cy="67865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457200"/>
            <a:ext cx="1160145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50" b="1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Chuẩn</a:t>
            </a:r>
            <a:r>
              <a:rPr kumimoji="0" lang="en-US" sz="2850" b="1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kumimoji="0" lang="en-US" sz="2850" b="1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hóa</a:t>
            </a:r>
            <a:r>
              <a:rPr kumimoji="0" lang="en-US" sz="2850" b="1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kumimoji="0" lang="en-US" sz="2850" b="1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dữ</a:t>
            </a:r>
            <a:r>
              <a:rPr kumimoji="0" lang="en-US" sz="2850" b="1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</a:t>
            </a:r>
            <a:r>
              <a:rPr kumimoji="0" lang="en-US" sz="2850" b="1" i="0" u="none" strike="noStrike" kern="0" cap="none" spc="0" normalizeH="0" baseline="0" noProof="0" dirty="0" err="1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liệu</a:t>
            </a:r>
            <a:r>
              <a:rPr kumimoji="0" lang="en-US" sz="2850" b="1" i="0" u="none" strike="noStrike" kern="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 (Standardization)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2880121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Sử dụng phương pháp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StandardScaler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để đưa các đặc trưng về cùng một thang đo.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524625" y="3171825"/>
            <a:ext cx="4905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Thực thi trong Code: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524625" y="4400550"/>
            <a:ext cx="49053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*Áp dụng cho 13 thuộc tính đầu vào trước khi huấn luyện mô hình.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94260" y="3601640"/>
            <a:ext cx="688330" cy="2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866775" y="4211240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952500" y="4225528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Giúp các thuật toán (SVM, KNN, ANN) hội tụ nhanh hơn.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866775" y="4401740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952500" y="4416028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Triệt tiêu sự chênh lệch đơn vị (ví dụ: Age vs Chol).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866775" y="4592240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952500" y="4606528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Dữ liệu sau chuẩn hóa có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Mean ≈ 0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và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Std = 1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6197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6"/>
          <p:cNvGraphicFramePr/>
          <p:nvPr>
            <p:extLst>
              <p:ext uri="{D42A27DB-BD31-4B8C-83A1-F6EECF244321}">
                <p14:modId xmlns:p14="http://schemas.microsoft.com/office/powerpoint/2010/main" val="3294975432"/>
              </p:ext>
            </p:extLst>
          </p:nvPr>
        </p:nvGraphicFramePr>
        <p:xfrm>
          <a:off x="581025" y="2495550"/>
          <a:ext cx="11029950" cy="2714625"/>
        </p:xfrm>
        <a:graphic>
          <a:graphicData uri="http://schemas.openxmlformats.org/drawingml/2006/table">
            <a:tbl>
              <a:tblPr firstRow="1" bandRow="1">
                <a:noFill/>
                <a:tableStyleId>{71C84C65-F8B6-40F8-A90A-5B0E280E7166}</a:tableStyleId>
              </a:tblPr>
              <a:tblGrid>
                <a:gridCol w="299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5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Chỉ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số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Sức</a:t>
                      </a:r>
                      <a:r>
                        <a:rPr lang="en-US" sz="135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khỏe</a:t>
                      </a:r>
                      <a:endParaRPr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Nhóm Bình Thường (Target 0)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Nhóm Mắc Bệnh (Target 1)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Đánh giá Chênh lệch Lâm sàng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Tuổi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trung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bình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(Age)</a:t>
                      </a:r>
                      <a:endParaRPr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56.5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tuổi</a:t>
                      </a:r>
                      <a:endParaRPr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52.4 tuổi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Xu hướng trẻ hóa rõ rệt ở ca bệnh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Nhịp tim tối đa (Thalach)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139.1 bpm</a:t>
                      </a:r>
                      <a:endParaRPr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158.6 bpm</a:t>
                      </a:r>
                      <a:endParaRPr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Tăng mạnh ở nhóm mắc bệnh tim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Chỉ số Oldpeak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1.60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0.57</a:t>
                      </a:r>
                      <a:endParaRPr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Mức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độ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lõm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ST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giảm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mạnh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ở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nhóm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bệnh</a:t>
                      </a:r>
                      <a:endParaRPr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Mạch máu soi thấy qua huỳnh quang (CA)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1.15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0.37</a:t>
                      </a:r>
                      <a:endParaRPr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Số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lượng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mạch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thông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suốt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thấp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hơn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đáng</a:t>
                      </a:r>
                      <a:r>
                        <a:rPr lang="en-US" sz="1200" b="0" i="0" u="none" strike="noStrike" cap="none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r>
                        <a:rPr lang="en-US" sz="1200" b="0" i="0" u="none" strike="noStrike" cap="none" dirty="0" err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kể</a:t>
                      </a:r>
                      <a:endParaRPr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2" name="Google Shape;152;p16"/>
          <p:cNvSpPr/>
          <p:nvPr/>
        </p:nvSpPr>
        <p:spPr>
          <a:xfrm>
            <a:off x="581025" y="3171825"/>
            <a:ext cx="2997249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578274" y="3171825"/>
            <a:ext cx="2559397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137671" y="3171825"/>
            <a:ext cx="2287934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8425606" y="3171825"/>
            <a:ext cx="3185368" cy="1905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81025" y="3643312"/>
            <a:ext cx="299724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78274" y="3643312"/>
            <a:ext cx="255939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137671" y="3643312"/>
            <a:ext cx="2287934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425606" y="3643312"/>
            <a:ext cx="318536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581025" y="4100512"/>
            <a:ext cx="299724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3578274" y="4100512"/>
            <a:ext cx="255939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137671" y="4100512"/>
            <a:ext cx="2287934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8425606" y="4100512"/>
            <a:ext cx="318536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581025" y="4557712"/>
            <a:ext cx="299724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3578274" y="4557712"/>
            <a:ext cx="255939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6137671" y="4557712"/>
            <a:ext cx="2287934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8425606" y="4557712"/>
            <a:ext cx="318536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581025" y="5195887"/>
            <a:ext cx="2997249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578274" y="5195887"/>
            <a:ext cx="255939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137671" y="5195887"/>
            <a:ext cx="2287934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8425606" y="5195887"/>
            <a:ext cx="318536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723900" y="485775"/>
            <a:ext cx="647127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SỰ KHÁC BIỆT GIỮA CÁC NHÓM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581025" y="485775"/>
            <a:ext cx="47625" cy="419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62262"/>
            <a:ext cx="110490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62262"/>
            <a:ext cx="53340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71500" y="4572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5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Đặc trưng ảnh hưởng mạnh nhất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6524625" y="3052762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4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Phân tích từ biểu đồ: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6524625" y="3328987"/>
            <a:ext cx="4905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Thông qua thuật toán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Random Forest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, ta xác định được: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819900" y="3657600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905625" y="3671887"/>
            <a:ext cx="4524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CP (Chest Pain):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Là yếu tố quan trọng nhất (trọng số 0.135).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6819900" y="3848100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6905625" y="3862387"/>
            <a:ext cx="45243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Nhóm 3 yếu tố tiếp theo (CA, Thalach, Oldpeak) có tầm ảnh hưởng tương đương nhau.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6819900" y="4229100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6905625" y="4243387"/>
            <a:ext cx="45243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Yếu tố sinh học như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Giới tính (Sex)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và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Đường huyết (FBS)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có trọng số thấp nhất.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2208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238250"/>
            <a:ext cx="11029950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581025" y="4686300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Mô hình </a:t>
            </a:r>
            <a:r>
              <a:rPr lang="en-US" sz="1200" b="1" i="1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Random Forest</a:t>
            </a:r>
            <a:r>
              <a:rPr lang="en-US" sz="1200" b="0" i="1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và </a:t>
            </a:r>
            <a:r>
              <a:rPr lang="en-US" sz="1200" b="1" i="1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Decision Tree</a:t>
            </a:r>
            <a:r>
              <a:rPr lang="en-US" sz="1200" b="0" i="1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mang lại độ chính xác cực cao (98.53%) trên tập dữ liệu thử nghiệm lâm sàng.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23900" y="485775"/>
            <a:ext cx="783129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HIỆU QUẢ CÁC THUẬT TOÁN DỰ ĐOÁN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581025" y="485775"/>
            <a:ext cx="47625" cy="419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248025"/>
            <a:ext cx="35559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3248025"/>
            <a:ext cx="355595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3248025"/>
            <a:ext cx="3556099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571500" y="4572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5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Chi tiết mô hình phân lớp (P1)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92627" y="3448050"/>
            <a:ext cx="331369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4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Logistic Regression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771525" y="3724275"/>
            <a:ext cx="3155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Mô hình tuyến tính cơ sở. Đạt độ chính xác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79.5%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 Phù hợp làm mốc so sánh (Baseline).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4439077" y="3448050"/>
            <a:ext cx="331369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4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K-Nearest Neighbors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4517975" y="3724275"/>
            <a:ext cx="315590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Phân lớp dựa trên khoảng cách. Độ chính xác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83.4%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 Phụ thuộc nhiều vào việc chuẩn hóa Z-score.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8185524" y="3448050"/>
            <a:ext cx="331385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4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SVM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8264425" y="3724275"/>
            <a:ext cx="3156049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Sử dụng siêu phẳng để phân tách dữ liệu. Hiệu năng ổn định: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88.7%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8865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33712"/>
            <a:ext cx="5334000" cy="17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176587"/>
            <a:ext cx="5334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571500" y="4572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5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Chi tiết mô hình phân lớp (P2)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648176" y="3271837"/>
            <a:ext cx="51806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4" b="1" i="0" u="none" strike="noStrike" kern="0" cap="none" spc="0" normalizeH="0" baseline="0" noProof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Random Forest / Decision Tree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771525" y="3548062"/>
            <a:ext cx="4933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Đây là nhóm mô hình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Mạnh nhất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771525" y="3833812"/>
            <a:ext cx="4933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Độ chính xác: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98.5%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771525" y="4119562"/>
            <a:ext cx="4933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Khả năng nắm bắt các mối quan hệ phi tuyến giữa các chỉ số lâm sàng cực kỳ tốt.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6363176" y="3414712"/>
            <a:ext cx="51806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4" b="1" i="0" u="none" strike="noStrike" kern="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Neural Network (ANN)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486525" y="3690937"/>
            <a:ext cx="4933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Học sâu với nhiều lớp ẩn. Độ chính xác: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84.4%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6486525" y="3976687"/>
            <a:ext cx="49339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Đường cong Loss giảm dần ổn định, cho thấy mô hình học tập tốt nhưng chưa vượt qua được Rừng ngẫu nhiên trên tập dữ liệu này.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193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571500" y="4572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5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Kết quả so sánh hiệu năng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20"/>
          <p:cNvGraphicFramePr/>
          <p:nvPr/>
        </p:nvGraphicFramePr>
        <p:xfrm>
          <a:off x="571500" y="2728912"/>
          <a:ext cx="11049000" cy="19431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0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7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5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Thuật toán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891B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98.5%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97.1%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98.5%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SVM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88.8%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85.1%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94.2%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89.4%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Artificial Neural Network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84.4%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84.5%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84.5%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84.5%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Logistic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79.5%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75.6%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87.4%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81.1%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0" name="Google Shape;220;p20"/>
          <p:cNvSpPr txBox="1"/>
          <p:nvPr/>
        </p:nvSpPr>
        <p:spPr>
          <a:xfrm>
            <a:off x="571500" y="4814887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*Dữ liệu trích xuất từ bảng kết quả thực nghiệm `result_df` trong code.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71500" y="3514725"/>
            <a:ext cx="4000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572297" y="3514725"/>
            <a:ext cx="19070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6479381" y="3514725"/>
            <a:ext cx="1886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8365777" y="3514725"/>
            <a:ext cx="1388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9754641" y="3514725"/>
            <a:ext cx="1865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71500" y="3895725"/>
            <a:ext cx="4000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572297" y="3895725"/>
            <a:ext cx="19070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6479381" y="3895725"/>
            <a:ext cx="1886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8365777" y="3895725"/>
            <a:ext cx="1388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9754641" y="3895725"/>
            <a:ext cx="1865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571500" y="4276725"/>
            <a:ext cx="4000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572297" y="4276725"/>
            <a:ext cx="19070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6479381" y="4276725"/>
            <a:ext cx="1886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8365777" y="4276725"/>
            <a:ext cx="1388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754641" y="4276725"/>
            <a:ext cx="1865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571500" y="4657725"/>
            <a:ext cx="40007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572297" y="4657725"/>
            <a:ext cx="19070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6479381" y="4657725"/>
            <a:ext cx="18863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8365777" y="4657725"/>
            <a:ext cx="1388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9754641" y="4657725"/>
            <a:ext cx="186585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7045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28925"/>
            <a:ext cx="5334000" cy="217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957512"/>
            <a:ext cx="5334000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571500" y="4572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5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Tính cân bằng &amp; Phân tích Giới tính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7525" y="3028950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648176" y="3409950"/>
            <a:ext cx="518064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4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Độ cân bằng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771525" y="3686175"/>
            <a:ext cx="4933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Dữ liệu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Cân bằng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771525" y="3971925"/>
            <a:ext cx="4933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Mắc bệnh (1): 526 mẫu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771525" y="4257675"/>
            <a:ext cx="49339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Bình thường (0): 499 mẫu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771525" y="4543425"/>
            <a:ext cx="4933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=&gt; Không cần dùng kỹ thuật Oversampling.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6524625" y="3148012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4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Tác động của Giới tính: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6524625" y="3424237"/>
            <a:ext cx="4905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Phân tích từ Countplot: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6819900" y="3752850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6905625" y="3767137"/>
            <a:ext cx="4524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Nam giới (Sex=1) có số lượng mẫu lớn hơn nữ giới.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6819900" y="3943350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6905625" y="3957637"/>
            <a:ext cx="452437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Tuy nhiên,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Nữ giới (Sex=0)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lại có tỷ lệ mắc bệnh (Target=1) cao hơn so với tỷ lệ không bệnh.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6819900" y="4324350"/>
            <a:ext cx="857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•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6905625" y="4338637"/>
            <a:ext cx="4524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Nam giới có sự chênh lệch ít hơn giữa 2 nhóm bệnh và không bệnh.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799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152775"/>
            <a:ext cx="110490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571500" y="4572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5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Kết luận &amp; Trả lời câu hỏi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71500" y="109537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809625" y="3343275"/>
            <a:ext cx="10620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Thuật toán tốt nhất: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Random Forest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(98.5%).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809625" y="3629025"/>
            <a:ext cx="10620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Tác động vận động: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Bệnh nhân có </a:t>
            </a:r>
            <a:r>
              <a:rPr kumimoji="0" lang="en-US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đau thắt ngực khi vận động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(Exang=1) có nguy cơ 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891B2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cao hơn rõ rệt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(chiếm đa số trong nhóm Target 1).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809625" y="3914775"/>
            <a:ext cx="10620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Khả năng dự đoán: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Với độ chính xác cao, mô hình hoàn toàn có thể sử dụng các chỉ số sức khỏe để dự báo nguy cơ cho bệnh nhân mới.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809625" y="4200525"/>
            <a:ext cx="106203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Neural Network: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 Phân loại khá tốt (84.4%), đường cong ROC đạt AUC 0.926 (rất cao).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53" name="Google Shape;25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3623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6480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9338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4219575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2755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6286500" y="2771626"/>
            <a:ext cx="559069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Chỉ số ảnh hưởng cao nhất: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572250" y="3238351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CP (Chest Pain):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Loại đau ngực có trọng số ảnh hưởng </a:t>
            </a: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0.135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572250" y="3638401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CA (Vessels):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Số lượng mạch máu lớn có trọng số </a:t>
            </a: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0.127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572250" y="4038451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Thalach: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Nhịp tim tối đa đạt được có trọng số </a:t>
            </a: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0.122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572250" y="4438501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Oldpeak: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Trầm cảm ST tương đối có trọng số </a:t>
            </a: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0.121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723900" y="485775"/>
            <a:ext cx="8774534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TRỌNG SỐ TẦM QUAN TRỌNG THUỘC TÍNH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81025" y="485775"/>
            <a:ext cx="47625" cy="419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23835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63840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03845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443850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39E6807-C9C4-4A37-8A1D-F647024A1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2471737"/>
            <a:ext cx="53340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238250"/>
            <a:ext cx="11029950" cy="5133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 txBox="1"/>
          <p:nvPr/>
        </p:nvSpPr>
        <p:spPr>
          <a:xfrm>
            <a:off x="581025" y="5186362"/>
            <a:ext cx="11029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Tỷ lệ phân phối lý tưởng giúp hạn chế tình trạng thiên vị (bias) lớp bệnh lý của hệ thống học máy.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23900" y="485775"/>
            <a:ext cx="812617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PHÂN PHỐI CÂN BẰNG CỦA LỚP TARGET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581025" y="485775"/>
            <a:ext cx="47625" cy="419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57462"/>
            <a:ext cx="5419725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33650"/>
            <a:ext cx="522922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971550" y="2947987"/>
            <a:ext cx="4638675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0" i="0" u="none" strike="noStrike" cap="none">
                <a:solidFill>
                  <a:srgbClr val="4ADE80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98%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71550" y="4138612"/>
            <a:ext cx="46386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Xác suất chính xác của mô hình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677025" y="2828925"/>
            <a:ext cx="487060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Bệnh nhân giả định: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677025" y="3238500"/>
            <a:ext cx="4638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Nam giới, 52 tuổi, Đau ngực loại 0 (không điển hình), Nhịp tim 168 bpm, Oldpeak 1.0, CA 2.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6677025" y="3838575"/>
            <a:ext cx="463867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6677025" y="3990975"/>
            <a:ext cx="487060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Kết quả phân tích: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77025" y="4400550"/>
            <a:ext cx="4638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BBF2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CẢNH BÁO NGUY CƠ CAO MẮC BỆNH TIM</a:t>
            </a:r>
            <a:endParaRPr/>
          </a:p>
        </p:txBody>
      </p:sp>
      <p:pic>
        <p:nvPicPr>
          <p:cNvPr id="223" name="Google Shape;22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7025" y="44291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723900" y="485775"/>
            <a:ext cx="974559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KỊCH BẢN DỰ ĐOÁN CA LÂM SÀNG THỬ NGHIỆM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81025" y="485775"/>
            <a:ext cx="47625" cy="419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866775" y="2619226"/>
            <a:ext cx="503872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Mô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hình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đạt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độ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chính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xác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cao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350" b="1" i="0" u="none" strike="noStrike" cap="none" dirty="0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98.53%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),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có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sự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tin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cậy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trong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hỗ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trợ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lâm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sàng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33" name="Google Shape;233;p21"/>
          <p:cNvSpPr txBox="1"/>
          <p:nvPr/>
        </p:nvSpPr>
        <p:spPr>
          <a:xfrm>
            <a:off x="866775" y="3276451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Sàng lọc sớm qua các chỉ số </a:t>
            </a: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đau ngực, nhịp tim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có tác dụng ngăn ngừa rủi ro đột quỵ.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866775" y="3933676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Tiềm năng tích hợp sâu vào </a:t>
            </a:r>
            <a:r>
              <a:rPr lang="en-US" sz="135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thiết bị đeo thông minh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giám sát tim mạch thời gian thực.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866775" y="4590901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Tối ưu hóa quy trình sàng lọc ban đầu tại cơ sở y tế tuyến đầu.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723900" y="485775"/>
            <a:ext cx="892424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4ADE80"/>
                </a:solidFill>
                <a:latin typeface="Urbanist"/>
                <a:ea typeface="Urbanist"/>
                <a:cs typeface="Urbanist"/>
                <a:sym typeface="Urbanist"/>
              </a:rPr>
              <a:t>KẾT LUẬN &amp; HƯỚNG ỨNG DỤNG THỰC TIỄN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81025" y="485775"/>
            <a:ext cx="47625" cy="419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1922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7645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3367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59090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E19BAF48-4484-41A1-AC1C-3BCC1ED56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0" y="2276326"/>
            <a:ext cx="53340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1291</Words>
  <Application>Microsoft Office PowerPoint</Application>
  <PresentationFormat>Widescreen</PresentationFormat>
  <Paragraphs>149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Times New Roman</vt:lpstr>
      <vt:lpstr>Urbanist ExtraBold</vt:lpstr>
      <vt:lpstr>Lato</vt:lpstr>
      <vt:lpstr>Urbanist</vt:lpstr>
      <vt:lpstr>Calibri</vt:lpstr>
      <vt:lpstr>Urbanist SemiBold</vt:lpstr>
      <vt:lpstr>Urbanist Medium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Administrator</cp:lastModifiedBy>
  <cp:revision>2</cp:revision>
  <dcterms:modified xsi:type="dcterms:W3CDTF">2026-06-21T22:05:39Z</dcterms:modified>
</cp:coreProperties>
</file>